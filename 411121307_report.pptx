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20"/>
    <p:restoredTop sz="94658"/>
  </p:normalViewPr>
  <p:slideViewPr>
    <p:cSldViewPr snapToGrid="0">
      <p:cViewPr varScale="1">
        <p:scale>
          <a:sx n="120" d="100"/>
          <a:sy n="120" d="100"/>
        </p:scale>
        <p:origin x="38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8D1667F-A2F7-3FDF-3A30-8EE6A3FBAB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3A48E6D7-D522-6B61-631A-6A2B6EAFCA7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704043C-5ECF-846B-87F7-C32EEBCD07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FD94D0-827B-3E44-A20B-858EE60AABC8}" type="datetimeFigureOut">
              <a:rPr kumimoji="1" lang="zh-TW" altLang="en-US" smtClean="0"/>
              <a:t>2026/6/17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7E7721D-0356-7933-5389-D314CAD7F9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BA1448E-28EC-9FA8-C3A8-7FE18DDC01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AFDA5B-C433-B943-B07E-C058DC5FDF36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9753102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D4460FA-C9D4-E7F3-F095-8FDEDF4B14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54D8AC5-30B6-458B-7135-DB923AA6A1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5ED1FFC-3D0D-E1A1-331D-5E738D7A02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FD94D0-827B-3E44-A20B-858EE60AABC8}" type="datetimeFigureOut">
              <a:rPr kumimoji="1" lang="zh-TW" altLang="en-US" smtClean="0"/>
              <a:t>2026/6/17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6EFA0E5-BABC-60F6-906A-CD2C5CA1EC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A22D6E9-6F1C-E9D0-B2E1-8F73B86F1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AFDA5B-C433-B943-B07E-C058DC5FDF36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0888182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7A0C357-8CB4-1302-D5C4-6B41D4A24F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23F53F27-EC0D-E608-F6EE-65384D289B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98BF52D-1DF2-ADB3-22B8-327ABB73EA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FD94D0-827B-3E44-A20B-858EE60AABC8}" type="datetimeFigureOut">
              <a:rPr kumimoji="1" lang="zh-TW" altLang="en-US" smtClean="0"/>
              <a:t>2026/6/17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14581BB-2E5A-6813-438D-A37A170829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1C86005-4C23-3CCC-2C24-86F8FBCDCA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AFDA5B-C433-B943-B07E-C058DC5FDF36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8899699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8C0E0C9-BE8A-17F7-D5FA-FEFB4517B5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B165B2A-D21D-B03D-5341-F5902577821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C482B41E-DA7C-E686-6753-E9195FD55A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D2B730F0-93B3-D79C-8C2C-C6BD2E99FE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FD94D0-827B-3E44-A20B-858EE60AABC8}" type="datetimeFigureOut">
              <a:rPr kumimoji="1" lang="zh-TW" altLang="en-US" smtClean="0"/>
              <a:t>2026/6/17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1F6C5082-227D-A956-FB71-7CA69B383B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6386598B-A6F3-A018-864B-FA62EC38FB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AFDA5B-C433-B943-B07E-C058DC5FDF36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1412023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9561C54-EB22-5514-C1BA-1CFFB8A081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0F9416FA-4C56-CEA6-1A83-96AAD42B43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D087AA15-FBAF-5B19-874C-FE79B0CA10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11168B6A-1EBF-4F27-4E8D-B326934B8FF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37C087FD-76C0-01BB-A4AC-23405B3E7F1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C5CDEB37-AF20-AC56-1CB4-128072A5E6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FD94D0-827B-3E44-A20B-858EE60AABC8}" type="datetimeFigureOut">
              <a:rPr kumimoji="1" lang="zh-TW" altLang="en-US" smtClean="0"/>
              <a:t>2026/6/17</a:t>
            </a:fld>
            <a:endParaRPr kumimoji="1"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A941651C-0C6C-C643-FC22-0BF420F7FE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281900AF-F114-40CB-0984-1D3DF114B7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AFDA5B-C433-B943-B07E-C058DC5FDF36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2391747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55213E3-DE24-2A66-3BDE-58F7E879E1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EF2646A3-8B71-62E9-C2D5-E031105CB1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FD94D0-827B-3E44-A20B-858EE60AABC8}" type="datetimeFigureOut">
              <a:rPr kumimoji="1" lang="zh-TW" altLang="en-US" smtClean="0"/>
              <a:t>2026/6/17</a:t>
            </a:fld>
            <a:endParaRPr kumimoji="1"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DBA280AA-1F5A-C039-09B8-2137DD0877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A1693E77-46FC-061B-965A-62F7D76B0F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AFDA5B-C433-B943-B07E-C058DC5FDF36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1807740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20C6EFFC-9234-C04C-7E0E-4C6E8880CB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FD94D0-827B-3E44-A20B-858EE60AABC8}" type="datetimeFigureOut">
              <a:rPr kumimoji="1" lang="zh-TW" altLang="en-US" smtClean="0"/>
              <a:t>2026/6/17</a:t>
            </a:fld>
            <a:endParaRPr kumimoji="1"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54412D4B-466A-601D-6245-D41BCC63D8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733497F-1F24-CD8D-9C84-336D0C8BD2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AFDA5B-C433-B943-B07E-C058DC5FDF36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677597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90C7142-1CE5-38F2-8B69-2E3EE5C4FA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61D164F-4986-B609-BBA6-F701F90BEB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1C326C26-2A6B-BE2E-5EF4-C2E5AA2055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B337C269-9502-C3E3-1AFC-9E31953AA2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FD94D0-827B-3E44-A20B-858EE60AABC8}" type="datetimeFigureOut">
              <a:rPr kumimoji="1" lang="zh-TW" altLang="en-US" smtClean="0"/>
              <a:t>2026/6/17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6CF1050A-74BB-B590-E413-D802B4383F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F081C225-8629-B5CE-95C0-78D7A4847E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AFDA5B-C433-B943-B07E-C058DC5FDF36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4997382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78534CD-74EF-2506-1AD6-E6061A04E5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15A8ED64-2D8C-9836-64EC-3CDFE174D63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5683576F-0EAD-ED58-D162-521BDE9DAD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EF3B2E0A-AE81-5E7A-13D7-0F6FA79C92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FD94D0-827B-3E44-A20B-858EE60AABC8}" type="datetimeFigureOut">
              <a:rPr kumimoji="1" lang="zh-TW" altLang="en-US" smtClean="0"/>
              <a:t>2026/6/17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7F6E642E-EDE4-E30C-124D-8B6CAF9B5D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FAE68F21-FB39-5F71-B479-124FE3D0A5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AFDA5B-C433-B943-B07E-C058DC5FDF36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106659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52A3C96-FB2A-3BE5-9D12-3E92FBBC9B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0DC3F276-A5AA-7089-4517-1F28A2426C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D070CCD-4613-06C0-8681-323BDECDB7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FD94D0-827B-3E44-A20B-858EE60AABC8}" type="datetimeFigureOut">
              <a:rPr kumimoji="1" lang="zh-TW" altLang="en-US" smtClean="0"/>
              <a:t>2026/6/17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83B94A4-4C06-1D65-CD7A-832D9B91C9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1D042A1-C28D-B10C-C8FE-8D6BDA7433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AFDA5B-C433-B943-B07E-C058DC5FDF36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0362645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B18ECE01-2DA1-E6D2-FD2D-114C6964313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386B51E4-C5F5-EF12-6746-8EE3D1CE06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A81A978-223E-168E-5428-352DD2234D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FD94D0-827B-3E44-A20B-858EE60AABC8}" type="datetimeFigureOut">
              <a:rPr kumimoji="1" lang="zh-TW" altLang="en-US" smtClean="0"/>
              <a:t>2026/6/17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BE1A8DF-C809-B6CC-D920-8605DA7887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08B24BEB-2168-5E79-ED3C-89E610BB33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AFDA5B-C433-B943-B07E-C058DC5FDF36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2450923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B926F220-909A-6B65-8920-8AD362F4A9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AA10BA49-AF6B-16C2-777E-3B88FFF908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63D97DF-01D9-A2B6-7A1D-A20A05FAECC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2FD94D0-827B-3E44-A20B-858EE60AABC8}" type="datetimeFigureOut">
              <a:rPr kumimoji="1" lang="zh-TW" altLang="en-US" smtClean="0"/>
              <a:t>2026/6/17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9C46A75-AFCC-38AD-9FD3-39B228EBDA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41B82A0-09E0-A778-6842-F2D550FFBE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9AFDA5B-C433-B943-B07E-C058DC5FDF36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9498341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imlone1y/Automated-Dynamic-Momentum-Vault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C3D667D-036D-7197-130A-17C9FF39A68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kumimoji="1" lang="zh-TW" altLang="en-US" sz="3600" dirty="0"/>
              <a:t>基於時間與價格波動的自動動態動量保險庫</a:t>
            </a:r>
            <a:br>
              <a:rPr kumimoji="1" lang="en-US" altLang="zh-TW" sz="3600" dirty="0"/>
            </a:br>
            <a:r>
              <a:rPr lang="zh-TW" altLang="zh-TW" sz="3600" dirty="0"/>
              <a:t>Automated Dynamic Momentum Vault</a:t>
            </a:r>
            <a:endParaRPr kumimoji="1" lang="zh-TW" altLang="en-US" sz="3600" dirty="0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71F54189-C394-DCB2-8434-CB44335454B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kumimoji="1" lang="en-US" altLang="zh-TW" dirty="0"/>
              <a:t>411121307 </a:t>
            </a:r>
            <a:r>
              <a:rPr kumimoji="1" lang="zh-TW" altLang="en-US" dirty="0"/>
              <a:t>資工四 葉宸君</a:t>
            </a:r>
          </a:p>
        </p:txBody>
      </p:sp>
    </p:spTree>
    <p:extLst>
      <p:ext uri="{BB962C8B-B14F-4D97-AF65-F5344CB8AC3E}">
        <p14:creationId xmlns:p14="http://schemas.microsoft.com/office/powerpoint/2010/main" val="2909543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F649CE2-73FD-D8BB-8F17-DAB815C538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Goal of smart contract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4E4F8B6-4341-66D7-2D33-59F3A29A7A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/>
          <a:lstStyle/>
          <a:p>
            <a:r>
              <a:rPr kumimoji="1" lang="zh-TW" altLang="en-US" dirty="0"/>
              <a:t>自動避險機制：</a:t>
            </a:r>
            <a:endParaRPr kumimoji="1" lang="en-US" altLang="zh-TW" dirty="0"/>
          </a:p>
          <a:p>
            <a:pPr lvl="1"/>
            <a:r>
              <a:rPr kumimoji="1" lang="zh-TW" altLang="en-US" dirty="0"/>
              <a:t>當市場處於行情好</a:t>
            </a:r>
            <a:r>
              <a:rPr kumimoji="1" lang="en-US" altLang="zh-TW" dirty="0"/>
              <a:t> ( market &gt;= 800 BULL )</a:t>
            </a:r>
            <a:r>
              <a:rPr kumimoji="1" lang="zh-TW" altLang="en-US" dirty="0"/>
              <a:t> 時，資金將</a:t>
            </a:r>
            <a:r>
              <a:rPr kumimoji="1" lang="en-US" altLang="zh-TW" dirty="0"/>
              <a:t>100%</a:t>
            </a:r>
            <a:r>
              <a:rPr kumimoji="1" lang="zh-TW" altLang="en-US" dirty="0"/>
              <a:t>存入虛擬貨幣中。</a:t>
            </a:r>
            <a:endParaRPr kumimoji="1" lang="en-US" altLang="zh-TW" dirty="0"/>
          </a:p>
          <a:p>
            <a:pPr lvl="1"/>
            <a:r>
              <a:rPr kumimoji="1" lang="zh-TW" altLang="en-US" dirty="0"/>
              <a:t>當市場處於保守</a:t>
            </a:r>
            <a:r>
              <a:rPr kumimoji="1" lang="en-US" altLang="zh-TW" dirty="0"/>
              <a:t> ( 501 &lt; market &lt; 799</a:t>
            </a:r>
            <a:r>
              <a:rPr kumimoji="1" lang="zh-TW" altLang="en-US" dirty="0"/>
              <a:t> </a:t>
            </a:r>
            <a:r>
              <a:rPr kumimoji="1" lang="en-US" altLang="zh-TW" dirty="0"/>
              <a:t>BEAR )</a:t>
            </a:r>
            <a:r>
              <a:rPr kumimoji="1" lang="zh-TW" altLang="en-US" dirty="0"/>
              <a:t> 時，資金將</a:t>
            </a:r>
            <a:r>
              <a:rPr kumimoji="1" lang="en-US" altLang="zh-TW" dirty="0"/>
              <a:t>80%</a:t>
            </a:r>
            <a:r>
              <a:rPr kumimoji="1" lang="zh-TW" altLang="en-US" dirty="0"/>
              <a:t>存入虛擬貨幣中，降低用戶資產在熊市的風險暴露。</a:t>
            </a:r>
            <a:endParaRPr kumimoji="1" lang="en-US" altLang="zh-TW" dirty="0"/>
          </a:p>
          <a:p>
            <a:pPr lvl="1"/>
            <a:r>
              <a:rPr kumimoji="1" lang="zh-TW" altLang="en-US" dirty="0"/>
              <a:t>當市場處於</a:t>
            </a:r>
            <a:r>
              <a:rPr lang="zh-TW" altLang="zh-TW" dirty="0"/>
              <a:t>閃崩斷路器</a:t>
            </a:r>
            <a:r>
              <a:rPr lang="en-US" altLang="zh-TW" dirty="0"/>
              <a:t> ( market &lt;= 500 FLASH_CRASH )</a:t>
            </a:r>
            <a:r>
              <a:rPr lang="zh-TW" altLang="en-US" dirty="0"/>
              <a:t>，存入 </a:t>
            </a:r>
            <a:r>
              <a:rPr lang="en-US" altLang="zh-TW" dirty="0"/>
              <a:t>/</a:t>
            </a:r>
            <a:r>
              <a:rPr lang="zh-TW" altLang="en-US" dirty="0"/>
              <a:t> 提款功能將會被鎖定無法使用。另外開啟緊急保本退款，退款數目將全數退回，而不扣手續費及不參與分紅池活動。</a:t>
            </a: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31674990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44BADF2-1260-8E82-2F1B-9DBDF7AECD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Goal of smart contract cont.</a:t>
            </a:r>
            <a:endParaRPr kumimoji="1"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F6BC7837-090B-D04B-6B40-AB1E2A5F624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kumimoji="1" lang="zh-TW" altLang="en-US" dirty="0"/>
                  <a:t>時間鎖、分紅池機制：</a:t>
                </a:r>
                <a:endParaRPr kumimoji="1" lang="en-US" altLang="zh-TW" dirty="0"/>
              </a:p>
              <a:p>
                <a:pPr lvl="1"/>
                <a:r>
                  <a:rPr kumimoji="1" lang="zh-TW" altLang="en-US" dirty="0"/>
                  <a:t>當需提款存入不到 </a:t>
                </a:r>
                <a:r>
                  <a:rPr kumimoji="1" lang="en-US" altLang="zh-TW" dirty="0"/>
                  <a:t>3</a:t>
                </a:r>
                <a:r>
                  <a:rPr kumimoji="1" lang="zh-TW" altLang="en-US" dirty="0"/>
                  <a:t> 天的款項時，須被強製扣除 </a:t>
                </a:r>
                <a:r>
                  <a:rPr kumimoji="1" lang="en-US" altLang="zh-TW" dirty="0"/>
                  <a:t>5%</a:t>
                </a:r>
                <a:r>
                  <a:rPr kumimoji="1" lang="zh-TW" altLang="en-US" dirty="0"/>
                  <a:t> 的罰款並存入分紅池中。</a:t>
                </a:r>
                <a:endParaRPr kumimoji="1" lang="en-US" altLang="zh-TW" dirty="0"/>
              </a:p>
              <a:p>
                <a:pPr lvl="1"/>
                <a:r>
                  <a:rPr kumimoji="1" lang="zh-TW" altLang="en-US" dirty="0"/>
                  <a:t>當提款已存入超過</a:t>
                </a:r>
                <a:r>
                  <a:rPr kumimoji="1" lang="en-US" altLang="zh-TW" dirty="0"/>
                  <a:t> 3 </a:t>
                </a:r>
                <a:r>
                  <a:rPr kumimoji="1" lang="zh-TW" altLang="en-US" dirty="0"/>
                  <a:t>天的款項，可按比例瓜分分紅池內獎金。</a:t>
                </a:r>
                <a:endParaRPr kumimoji="1" lang="en-US" altLang="zh-TW" dirty="0"/>
              </a:p>
              <a:p>
                <a:pPr lvl="1"/>
                <a:r>
                  <a:rPr kumimoji="1" lang="zh-TW" altLang="en-US" dirty="0"/>
                  <a:t>合約計算分紅公式：</a:t>
                </a:r>
                <a:endParaRPr kumimoji="1" lang="en-US" altLang="zh-TW" dirty="0"/>
              </a:p>
              <a:p>
                <a:pPr marL="457200" lvl="1" indent="0">
                  <a:buNone/>
                </a:pPr>
                <a:r>
                  <a:rPr kumimoji="1" lang="en-US" altLang="zh-TW" dirty="0"/>
                  <a:t>		</a:t>
                </a:r>
                <a14:m>
                  <m:oMath xmlns:m="http://schemas.openxmlformats.org/officeDocument/2006/math">
                    <m:r>
                      <a:rPr kumimoji="1" lang="en-US" altLang="zh-TW" i="1" dirty="0" smtClean="0">
                        <a:latin typeface="Cambria Math" panose="02040503050406030204" pitchFamily="18" charset="0"/>
                      </a:rPr>
                      <m:t>𝑏𝑜𝑛𝑢𝑠</m:t>
                    </m:r>
                    <m:r>
                      <a:rPr kumimoji="1" lang="en-US" altLang="zh-TW" b="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kumimoji="1" lang="en-US" altLang="zh-TW" dirty="0"/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kumimoji="1" lang="en-US" altLang="zh-TW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kumimoji="1" lang="zh-TW" altLang="en-US" i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kumimoji="1" lang="en-US" altLang="zh-TW" b="0" i="0" smtClean="0">
                            <a:latin typeface="Cambria Math" panose="02040503050406030204" pitchFamily="18" charset="0"/>
                          </a:rPr>
                          <m:t>accu</m:t>
                        </m:r>
                        <m:r>
                          <m:rPr>
                            <m:sty m:val="p"/>
                          </m:rPr>
                          <a:rPr kumimoji="1" lang="en-US" altLang="zh-TW" b="0" i="1" smtClean="0">
                            <a:latin typeface="Cambria Math" panose="02040503050406030204" pitchFamily="18" charset="0"/>
                          </a:rPr>
                          <m:t>mlatedPenaltyPool</m:t>
                        </m:r>
                        <m:r>
                          <a:rPr kumimoji="1" lang="en-US" altLang="zh-TW" b="0" i="1" smtClean="0">
                            <a:latin typeface="Cambria Math" panose="02040503050406030204" pitchFamily="18" charset="0"/>
                          </a:rPr>
                          <m:t> × </m:t>
                        </m:r>
                        <m:r>
                          <m:rPr>
                            <m:sty m:val="p"/>
                          </m:rPr>
                          <a:rPr kumimoji="1"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user</m:t>
                        </m:r>
                        <m:r>
                          <a:rPr kumimoji="1"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.</m:t>
                        </m:r>
                        <m:r>
                          <m:rPr>
                            <m:sty m:val="p"/>
                          </m:rPr>
                          <a:rPr kumimoji="1"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shares</m:t>
                        </m:r>
                      </m:num>
                      <m:den>
                        <m:r>
                          <m:rPr>
                            <m:sty m:val="p"/>
                          </m:rPr>
                          <a:rPr kumimoji="1" lang="en-US" altLang="zh-TW" b="0" i="1" smtClean="0">
                            <a:latin typeface="Cambria Math" panose="02040503050406030204" pitchFamily="18" charset="0"/>
                          </a:rPr>
                          <m:t>totalVaultShares</m:t>
                        </m:r>
                      </m:den>
                    </m:f>
                  </m:oMath>
                </a14:m>
                <a:endParaRPr kumimoji="1" lang="en-US" altLang="zh-TW" dirty="0"/>
              </a:p>
            </p:txBody>
          </p:sp>
        </mc:Choice>
        <mc:Fallback xmlns="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F6BC7837-090B-D04B-6B40-AB1E2A5F624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261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03345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21F9979-881F-7941-66EB-CD9A80DCE2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The function of smart contract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8101FE0-CB73-D5A1-7DC7-81B4F13F3A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802187"/>
          </a:xfrm>
        </p:spPr>
        <p:txBody>
          <a:bodyPr>
            <a:normAutofit/>
          </a:bodyPr>
          <a:lstStyle/>
          <a:p>
            <a:r>
              <a:rPr kumimoji="1" lang="en-US" altLang="zh-TW" sz="2400" dirty="0"/>
              <a:t>`owner`</a:t>
            </a:r>
            <a:r>
              <a:rPr lang="zh-TW" altLang="zh-TW" sz="2400" dirty="0"/>
              <a:t>合約管理員</a:t>
            </a:r>
            <a:r>
              <a:rPr lang="zh-TW" altLang="en-US" sz="2400" dirty="0"/>
              <a:t>：擁有更改時間及市場價格的權限。</a:t>
            </a:r>
            <a:endParaRPr lang="en-US" altLang="zh-TW" sz="2400" dirty="0"/>
          </a:p>
          <a:p>
            <a:r>
              <a:rPr lang="en-US" altLang="zh-TW" sz="2400" dirty="0"/>
              <a:t>`</a:t>
            </a:r>
            <a:r>
              <a:rPr lang="zh-TW" altLang="zh-TW" sz="2400" dirty="0"/>
              <a:t>currentMarketState</a:t>
            </a:r>
            <a:r>
              <a:rPr lang="en-US" altLang="zh-TW" sz="2400" dirty="0"/>
              <a:t>`state machine: </a:t>
            </a:r>
            <a:r>
              <a:rPr lang="zh-TW" altLang="en-US" sz="2400" dirty="0"/>
              <a:t>包含</a:t>
            </a:r>
            <a:r>
              <a:rPr lang="zh-TW" altLang="zh-TW" sz="2400" dirty="0"/>
              <a:t>BULL（牛市）、BEAR（熊市）、FLASH_CRASH（閃崩）。合約所有的業務邏輯（存、取款）都會根據這個狀態自動切換行為。</a:t>
            </a:r>
            <a:endParaRPr lang="en-US" altLang="zh-TW" sz="2400" dirty="0"/>
          </a:p>
          <a:p>
            <a:r>
              <a:rPr lang="en-US" altLang="zh-TW" sz="2400" dirty="0"/>
              <a:t>`CRASH_THRESHOLD` = 500</a:t>
            </a:r>
            <a:r>
              <a:rPr lang="zh-TW" altLang="en-US" sz="2400" dirty="0"/>
              <a:t>：閃崩臨界值。只要預言機回報的價格低於或等於此數值，將直接觸發斷路器。</a:t>
            </a:r>
          </a:p>
          <a:p>
            <a:r>
              <a:rPr lang="en-US" altLang="zh-TW" sz="2400" dirty="0"/>
              <a:t>`EARLY_WITHDRAW_PENALTY_TIME` = 3 days</a:t>
            </a:r>
            <a:r>
              <a:rPr lang="zh-TW" altLang="en-US" sz="2400" dirty="0"/>
              <a:t>：時間鎖門檻。存入資產未滿 </a:t>
            </a:r>
            <a:r>
              <a:rPr lang="en-US" altLang="zh-TW" sz="2400" dirty="0"/>
              <a:t>3 </a:t>
            </a:r>
            <a:r>
              <a:rPr lang="zh-TW" altLang="en-US" sz="2400" dirty="0"/>
              <a:t>天者將面臨早退懲罰。</a:t>
            </a:r>
          </a:p>
          <a:p>
            <a:r>
              <a:rPr lang="en-US" altLang="zh-TW" sz="2400" dirty="0"/>
              <a:t>`</a:t>
            </a:r>
            <a:r>
              <a:rPr lang="en-US" altLang="zh-TW" sz="2400" dirty="0" err="1"/>
              <a:t>accumulatedPenaltyPool</a:t>
            </a:r>
            <a:r>
              <a:rPr lang="en-US" altLang="zh-TW" sz="2400" dirty="0"/>
              <a:t>`</a:t>
            </a:r>
            <a:r>
              <a:rPr lang="zh-TW" altLang="en-US" sz="2400" dirty="0"/>
              <a:t>（分紅池）：用來動態記錄和儲存所有「未滿 </a:t>
            </a:r>
            <a:r>
              <a:rPr lang="en-US" altLang="zh-TW" sz="2400" dirty="0"/>
              <a:t>3 </a:t>
            </a:r>
            <a:r>
              <a:rPr lang="zh-TW" altLang="en-US" sz="2400" dirty="0"/>
              <a:t>天提款者」被扣除的 </a:t>
            </a:r>
            <a:r>
              <a:rPr lang="en-US" altLang="zh-TW" sz="2400" dirty="0"/>
              <a:t>5% </a:t>
            </a:r>
            <a:r>
              <a:rPr lang="zh-TW" altLang="en-US" sz="2400" dirty="0"/>
              <a:t>罰款總額。</a:t>
            </a:r>
          </a:p>
          <a:p>
            <a:r>
              <a:rPr lang="en-US" altLang="zh-TW" sz="2400" dirty="0"/>
              <a:t>`</a:t>
            </a:r>
            <a:r>
              <a:rPr lang="en-US" altLang="zh-TW" sz="2400" dirty="0" err="1"/>
              <a:t>UserInfo</a:t>
            </a:r>
            <a:r>
              <a:rPr lang="en-US" altLang="zh-TW" sz="2400" dirty="0"/>
              <a:t>`</a:t>
            </a:r>
            <a:r>
              <a:rPr lang="zh-TW" altLang="en-US" sz="2400" dirty="0"/>
              <a:t>（用戶帳本）：精準記錄每位用戶當前的份額餘額（</a:t>
            </a:r>
            <a:r>
              <a:rPr lang="en-US" altLang="zh-TW" sz="2400" dirty="0"/>
              <a:t>shares</a:t>
            </a:r>
            <a:r>
              <a:rPr lang="zh-TW" altLang="en-US" sz="2400" dirty="0"/>
              <a:t>）以及最後一次存款的虛擬時間戳記（</a:t>
            </a:r>
            <a:r>
              <a:rPr lang="en-US" altLang="zh-TW" sz="2400" dirty="0" err="1"/>
              <a:t>depositTimestamp</a:t>
            </a:r>
            <a:r>
              <a:rPr lang="zh-TW" altLang="en-US" sz="2400" dirty="0"/>
              <a:t>）。</a:t>
            </a:r>
          </a:p>
        </p:txBody>
      </p:sp>
    </p:spTree>
    <p:extLst>
      <p:ext uri="{BB962C8B-B14F-4D97-AF65-F5344CB8AC3E}">
        <p14:creationId xmlns:p14="http://schemas.microsoft.com/office/powerpoint/2010/main" val="9885983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E857BB-C1E2-F3C8-9A59-D946B16A2A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FB74DD6-CEF7-B413-6C08-755DE9368F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The function of smart contract cont.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198A663-B094-8B15-7AEF-D606745624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01212"/>
            <a:ext cx="10515600" cy="4433777"/>
          </a:xfrm>
        </p:spPr>
        <p:txBody>
          <a:bodyPr>
            <a:noAutofit/>
          </a:bodyPr>
          <a:lstStyle/>
          <a:p>
            <a:r>
              <a:rPr lang="en-US" altLang="zh-TW" sz="2000" dirty="0"/>
              <a:t>`</a:t>
            </a:r>
            <a:r>
              <a:rPr lang="zh-TW" altLang="zh-TW" sz="2000" dirty="0"/>
              <a:t>setMarketPrice(uint256 _newPrice)</a:t>
            </a:r>
            <a:r>
              <a:rPr lang="en-US" altLang="zh-TW" sz="2000" dirty="0"/>
              <a:t>`</a:t>
            </a:r>
            <a:r>
              <a:rPr lang="zh-TW" altLang="en-US" sz="2000" dirty="0"/>
              <a:t>模擬設定市場價格，及狀態</a:t>
            </a:r>
            <a:r>
              <a:rPr lang="en-US" altLang="zh-TW" sz="2000" dirty="0"/>
              <a:t>BULL / BEAR / FLASH_CRASH</a:t>
            </a:r>
            <a:r>
              <a:rPr lang="zh-TW" altLang="en-US" sz="2000" dirty="0"/>
              <a:t>，僅限</a:t>
            </a:r>
            <a:r>
              <a:rPr lang="en-US" altLang="zh-TW" sz="2000" dirty="0"/>
              <a:t>admin</a:t>
            </a:r>
            <a:r>
              <a:rPr lang="zh-TW" altLang="en-US" sz="2000" dirty="0"/>
              <a:t>。</a:t>
            </a:r>
            <a:endParaRPr lang="en-US" altLang="zh-TW" sz="2000" dirty="0"/>
          </a:p>
          <a:p>
            <a:r>
              <a:rPr lang="en-US" altLang="zh-TW" sz="2000" dirty="0"/>
              <a:t>`</a:t>
            </a:r>
            <a:r>
              <a:rPr lang="zh-TW" altLang="zh-TW" sz="2000" dirty="0"/>
              <a:t>deposit()</a:t>
            </a:r>
            <a:r>
              <a:rPr lang="en-US" altLang="zh-TW" sz="2000" dirty="0"/>
              <a:t>`</a:t>
            </a:r>
            <a:r>
              <a:rPr lang="zh-TW" altLang="en-US" sz="2000" dirty="0"/>
              <a:t>存款：非崩盤下</a:t>
            </a:r>
            <a:r>
              <a:rPr lang="en-US" altLang="zh-TW" sz="2000" dirty="0"/>
              <a:t> (</a:t>
            </a:r>
            <a:r>
              <a:rPr lang="en-US" altLang="zh-TW" sz="2000" dirty="0" err="1"/>
              <a:t>whenNotCrashed</a:t>
            </a:r>
            <a:r>
              <a:rPr lang="en-US" altLang="zh-TW" sz="2000" dirty="0"/>
              <a:t>) </a:t>
            </a:r>
            <a:r>
              <a:rPr lang="zh-TW" altLang="en-US" sz="2000" dirty="0"/>
              <a:t>才能使用。</a:t>
            </a:r>
            <a:endParaRPr lang="en-US" altLang="zh-TW" sz="2000" dirty="0"/>
          </a:p>
          <a:p>
            <a:pPr lvl="1"/>
            <a:r>
              <a:rPr lang="zh-TW" altLang="en-US" sz="2000" dirty="0"/>
              <a:t>牛市（</a:t>
            </a:r>
            <a:r>
              <a:rPr lang="en-US" altLang="zh-TW" sz="2000" dirty="0"/>
              <a:t>BULL</a:t>
            </a:r>
            <a:r>
              <a:rPr lang="zh-TW" altLang="en-US" sz="2000" dirty="0"/>
              <a:t>）：按 </a:t>
            </a:r>
            <a:r>
              <a:rPr lang="en-US" altLang="zh-TW" sz="2000" dirty="0"/>
              <a:t>100% </a:t>
            </a:r>
            <a:r>
              <a:rPr lang="zh-TW" altLang="en-US" sz="2000" dirty="0"/>
              <a:t>比例足額發行。存入 </a:t>
            </a:r>
            <a:r>
              <a:rPr lang="en-US" altLang="zh-TW" sz="2000" dirty="0"/>
              <a:t>1 ETH </a:t>
            </a:r>
            <a:r>
              <a:rPr lang="zh-TW" altLang="en-US" sz="2000" dirty="0"/>
              <a:t>獲得 </a:t>
            </a:r>
            <a:r>
              <a:rPr lang="en-US" altLang="zh-TW" sz="2000" dirty="0"/>
              <a:t>1 </a:t>
            </a:r>
            <a:r>
              <a:rPr lang="zh-TW" altLang="en-US" sz="2000" dirty="0"/>
              <a:t>份額。</a:t>
            </a:r>
          </a:p>
          <a:p>
            <a:pPr lvl="1"/>
            <a:r>
              <a:rPr lang="zh-TW" altLang="en-US" sz="2000" dirty="0"/>
              <a:t>熊市（</a:t>
            </a:r>
            <a:r>
              <a:rPr lang="en-US" altLang="zh-TW" sz="2000" dirty="0"/>
              <a:t>BEAR</a:t>
            </a:r>
            <a:r>
              <a:rPr lang="zh-TW" altLang="en-US" sz="2000" dirty="0"/>
              <a:t>）：按 </a:t>
            </a:r>
            <a:r>
              <a:rPr lang="en-US" altLang="zh-TW" sz="2000" dirty="0"/>
              <a:t>80% </a:t>
            </a:r>
            <a:r>
              <a:rPr lang="zh-TW" altLang="en-US" sz="2000" dirty="0"/>
              <a:t>比例保守發行。存入 </a:t>
            </a:r>
            <a:r>
              <a:rPr lang="en-US" altLang="zh-TW" sz="2000" dirty="0"/>
              <a:t>1 ETH </a:t>
            </a:r>
            <a:r>
              <a:rPr lang="zh-TW" altLang="en-US" sz="2000" dirty="0"/>
              <a:t>僅獲得 </a:t>
            </a:r>
            <a:r>
              <a:rPr lang="en-US" altLang="zh-TW" sz="2000" dirty="0"/>
              <a:t>0.8 </a:t>
            </a:r>
            <a:r>
              <a:rPr lang="zh-TW" altLang="en-US" sz="2000" dirty="0"/>
              <a:t>份額。剩餘的 </a:t>
            </a:r>
            <a:r>
              <a:rPr lang="en-US" altLang="zh-TW" sz="2000" dirty="0"/>
              <a:t>20% </a:t>
            </a:r>
            <a:r>
              <a:rPr lang="zh-TW" altLang="en-US" sz="2000" dirty="0"/>
              <a:t>資金安全地留存在合約總資產（</a:t>
            </a:r>
            <a:r>
              <a:rPr lang="en-US" altLang="zh-TW" sz="2000" dirty="0"/>
              <a:t>address(this).balance</a:t>
            </a:r>
            <a:r>
              <a:rPr lang="zh-TW" altLang="en-US" sz="2000" dirty="0"/>
              <a:t>）中作為流動性緩衝金。</a:t>
            </a:r>
            <a:endParaRPr lang="en-US" altLang="zh-TW" sz="2000" dirty="0"/>
          </a:p>
          <a:p>
            <a:r>
              <a:rPr lang="en-US" altLang="zh-TW" sz="2000" dirty="0"/>
              <a:t>`</a:t>
            </a:r>
            <a:r>
              <a:rPr lang="zh-TW" altLang="zh-TW" sz="2000" dirty="0"/>
              <a:t>withdraw(uint256 _sharesToWithdraw)</a:t>
            </a:r>
            <a:r>
              <a:rPr lang="en-US" altLang="zh-TW" sz="2000" dirty="0"/>
              <a:t>`</a:t>
            </a:r>
            <a:r>
              <a:rPr lang="zh-TW" altLang="en-US" sz="2000" dirty="0"/>
              <a:t>提款：非崩盤下</a:t>
            </a:r>
            <a:r>
              <a:rPr lang="en-US" altLang="zh-TW" sz="2000" dirty="0"/>
              <a:t> (</a:t>
            </a:r>
            <a:r>
              <a:rPr lang="en-US" altLang="zh-TW" sz="2000" dirty="0" err="1"/>
              <a:t>whenNotCrashed</a:t>
            </a:r>
            <a:r>
              <a:rPr lang="en-US" altLang="zh-TW" sz="2000" dirty="0"/>
              <a:t>) </a:t>
            </a:r>
            <a:r>
              <a:rPr lang="zh-TW" altLang="en-US" sz="2000" dirty="0"/>
              <a:t>才能使用。</a:t>
            </a:r>
            <a:endParaRPr lang="en-US" altLang="zh-TW" sz="2000" dirty="0"/>
          </a:p>
          <a:p>
            <a:pPr lvl="1"/>
            <a:r>
              <a:rPr lang="zh-TW" altLang="en-US" sz="2000" dirty="0"/>
              <a:t>未滿 </a:t>
            </a:r>
            <a:r>
              <a:rPr lang="en-US" altLang="zh-TW" sz="2000" dirty="0"/>
              <a:t>3 </a:t>
            </a:r>
            <a:r>
              <a:rPr lang="zh-TW" altLang="en-US" sz="2000" dirty="0"/>
              <a:t>天（閃電提領）：合約判定用戶缺乏耐心，會針對本次提領的數量強制扣除 </a:t>
            </a:r>
            <a:r>
              <a:rPr lang="en-US" altLang="zh-TW" sz="2000" dirty="0"/>
              <a:t>5% </a:t>
            </a:r>
            <a:r>
              <a:rPr lang="zh-TW" altLang="en-US" sz="2000" dirty="0"/>
              <a:t>罰款（</a:t>
            </a:r>
            <a:r>
              <a:rPr lang="en-US" altLang="zh-TW" sz="2000" dirty="0"/>
              <a:t>penalty</a:t>
            </a:r>
            <a:r>
              <a:rPr lang="zh-TW" altLang="en-US" sz="2000" dirty="0"/>
              <a:t>），並直接記錄累加進 </a:t>
            </a:r>
            <a:r>
              <a:rPr lang="en-US" altLang="zh-TW" sz="2000" dirty="0" err="1"/>
              <a:t>accumulatedPenaltyPool</a:t>
            </a:r>
            <a:r>
              <a:rPr lang="zh-TW" altLang="en-US" sz="2000" dirty="0"/>
              <a:t>（分紅池）。</a:t>
            </a:r>
          </a:p>
          <a:p>
            <a:pPr lvl="1"/>
            <a:r>
              <a:rPr lang="zh-TW" altLang="en-US" sz="2000" dirty="0"/>
              <a:t>滿 </a:t>
            </a:r>
            <a:r>
              <a:rPr lang="en-US" altLang="zh-TW" sz="2000" dirty="0"/>
              <a:t>3 </a:t>
            </a:r>
            <a:r>
              <a:rPr lang="zh-TW" altLang="en-US" sz="2000" dirty="0"/>
              <a:t>天以上（長期持有）：享有 </a:t>
            </a:r>
            <a:r>
              <a:rPr lang="en-US" altLang="zh-TW" sz="2000" dirty="0"/>
              <a:t>0 </a:t>
            </a:r>
            <a:r>
              <a:rPr lang="zh-TW" altLang="en-US" sz="2000" dirty="0"/>
              <a:t>手續費福利，且能按本次提領份額佔全場的比例，精準瓜分當前分紅池裡的獎勵（</a:t>
            </a:r>
            <a:r>
              <a:rPr lang="en-US" altLang="zh-TW" sz="2000" dirty="0"/>
              <a:t>bonus</a:t>
            </a:r>
            <a:r>
              <a:rPr lang="zh-TW" altLang="en-US" sz="2000" dirty="0"/>
              <a:t>）。</a:t>
            </a:r>
          </a:p>
          <a:p>
            <a:pPr lvl="1"/>
            <a:r>
              <a:rPr lang="zh-TW" altLang="en-US" sz="2000" dirty="0"/>
              <a:t>記帳變動：</a:t>
            </a:r>
            <a:r>
              <a:rPr lang="en-US" altLang="zh-TW" sz="2000" dirty="0" err="1"/>
              <a:t>totalVaultShares</a:t>
            </a:r>
            <a:r>
              <a:rPr lang="zh-TW" altLang="en-US" sz="2000" dirty="0"/>
              <a:t>（全站總份額）與用戶的 </a:t>
            </a:r>
            <a:r>
              <a:rPr lang="en-US" altLang="zh-TW" sz="2000" dirty="0" err="1"/>
              <a:t>user.shares</a:t>
            </a:r>
            <a:r>
              <a:rPr lang="en-US" altLang="zh-TW" sz="2000" dirty="0"/>
              <a:t> </a:t>
            </a:r>
            <a:r>
              <a:rPr lang="zh-TW" altLang="en-US" sz="2000" dirty="0"/>
              <a:t>僅扣除本次提領的部分，其餘資產繼續留在合約中增值。</a:t>
            </a:r>
          </a:p>
          <a:p>
            <a:pPr lvl="1"/>
            <a:endParaRPr lang="en-US" altLang="zh-TW" sz="2000" dirty="0"/>
          </a:p>
          <a:p>
            <a:endParaRPr lang="zh-TW" altLang="en-US" sz="2000" dirty="0"/>
          </a:p>
        </p:txBody>
      </p:sp>
    </p:spTree>
    <p:extLst>
      <p:ext uri="{BB962C8B-B14F-4D97-AF65-F5344CB8AC3E}">
        <p14:creationId xmlns:p14="http://schemas.microsoft.com/office/powerpoint/2010/main" val="10466157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B57A46B-A9BA-2685-C473-C6BE0E5CEA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zh-TW" dirty="0"/>
              <a:t>emergencyRefund()</a:t>
            </a:r>
            <a:r>
              <a:rPr lang="zh-TW" altLang="en-US" dirty="0"/>
              <a:t> </a:t>
            </a:r>
            <a:r>
              <a:rPr lang="zh-TW" altLang="zh-TW" dirty="0"/>
              <a:t>緊急保本退款通道</a:t>
            </a:r>
            <a:r>
              <a:rPr lang="zh-TW" altLang="en-US" dirty="0"/>
              <a:t>：狀態處於</a:t>
            </a:r>
            <a:r>
              <a:rPr lang="en-US" altLang="zh-TW" dirty="0"/>
              <a:t>`</a:t>
            </a:r>
            <a:r>
              <a:rPr lang="zh-TW" altLang="zh-TW" dirty="0"/>
              <a:t>FLASH_CRASH</a:t>
            </a:r>
            <a:r>
              <a:rPr lang="en-US" altLang="zh-TW" dirty="0"/>
              <a:t>` </a:t>
            </a:r>
            <a:r>
              <a:rPr lang="zh-TW" altLang="en-US" dirty="0"/>
              <a:t>才會出現。讓所有人可以無視 </a:t>
            </a:r>
            <a:r>
              <a:rPr lang="en-US" altLang="zh-TW" dirty="0"/>
              <a:t>3 </a:t>
            </a:r>
            <a:r>
              <a:rPr lang="zh-TW" altLang="en-US" dirty="0"/>
              <a:t>天時間鎖，無條件、零手續費地將當前剩餘的所有份額（</a:t>
            </a:r>
            <a:r>
              <a:rPr lang="en-US" altLang="zh-TW" dirty="0"/>
              <a:t>100% </a:t>
            </a:r>
            <a:r>
              <a:rPr lang="zh-TW" altLang="en-US" dirty="0"/>
              <a:t>原始本金）安全撤離。</a:t>
            </a:r>
            <a:endParaRPr lang="en-US" altLang="zh-TW" dirty="0"/>
          </a:p>
          <a:p>
            <a:r>
              <a:rPr lang="en-US" altLang="zh-TW" dirty="0"/>
              <a:t>`</a:t>
            </a:r>
            <a:r>
              <a:rPr lang="zh-TW" altLang="zh-TW" dirty="0"/>
              <a:t>cheatForwardTime(uint256 _seconds)</a:t>
            </a:r>
            <a:r>
              <a:rPr lang="en-US" altLang="zh-TW" dirty="0"/>
              <a:t>`</a:t>
            </a:r>
            <a:r>
              <a:rPr lang="zh-TW" altLang="en-US" dirty="0"/>
              <a:t> 測試用時間調整器：</a:t>
            </a:r>
            <a:r>
              <a:rPr lang="zh-TW" altLang="zh-TW" dirty="0"/>
              <a:t>僅限管理員</a:t>
            </a:r>
            <a:r>
              <a:rPr lang="zh-TW" altLang="en-US" dirty="0"/>
              <a:t>。</a:t>
            </a:r>
            <a:r>
              <a:rPr lang="zh-TW" altLang="zh-TW" dirty="0"/>
              <a:t>當調用此函數時（例如快進 4 天），合約內部所有的時間戳計算（getVirtualTimestamp()）都會自動往後飛躍 4 天。</a:t>
            </a:r>
            <a:endParaRPr lang="en-US" altLang="zh-TW" dirty="0"/>
          </a:p>
        </p:txBody>
      </p:sp>
      <p:sp>
        <p:nvSpPr>
          <p:cNvPr id="4" name="標題 1">
            <a:extLst>
              <a:ext uri="{FF2B5EF4-FFF2-40B4-BE49-F238E27FC236}">
                <a16:creationId xmlns:a16="http://schemas.microsoft.com/office/drawing/2014/main" id="{54FA854E-DFA6-67F5-4009-50D761A942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The function of smart contract cont.</a:t>
            </a:r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4016227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8EC0F07-6265-35E4-7979-2FBC5FD26B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Snapshot of all step: Set market state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D302B27-99B4-ED70-C286-8157930286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85383"/>
            <a:ext cx="10515600" cy="4351338"/>
          </a:xfrm>
        </p:spPr>
        <p:txBody>
          <a:bodyPr/>
          <a:lstStyle/>
          <a:p>
            <a:r>
              <a:rPr kumimoji="1" lang="en-US" altLang="zh-TW" dirty="0"/>
              <a:t>BULL</a:t>
            </a:r>
          </a:p>
          <a:p>
            <a:endParaRPr kumimoji="1" lang="zh-TW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99E2DC60-33B6-E28A-16FA-9E3C19D567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5787" y="1982356"/>
            <a:ext cx="8559208" cy="4692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88082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6F5891-488F-AA6D-0620-A93AD6F886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402432D-2686-EF27-747F-CCFD8CE754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Snapshot of all step: Set market state cont.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6331B04-B193-1D09-7905-92539E7C5B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85383"/>
            <a:ext cx="10515600" cy="4351338"/>
          </a:xfrm>
        </p:spPr>
        <p:txBody>
          <a:bodyPr/>
          <a:lstStyle/>
          <a:p>
            <a:r>
              <a:rPr kumimoji="1" lang="en-US" altLang="zh-TW" dirty="0"/>
              <a:t>BEAR</a:t>
            </a:r>
          </a:p>
          <a:p>
            <a:endParaRPr kumimoji="1" lang="zh-TW" altLang="en-US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589E6BBD-B73E-6EF5-BE88-9DB15E275C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5153" y="1962410"/>
            <a:ext cx="8495414" cy="4635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50045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252189-AF22-AD22-49E6-6755852586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B76DFF3-82FC-CC93-0B53-0B71A86215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Snapshot of all step: Set market state cont.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C8371FB-8831-FA02-4C1E-12D036C3E0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85383"/>
            <a:ext cx="10515600" cy="4351338"/>
          </a:xfrm>
        </p:spPr>
        <p:txBody>
          <a:bodyPr/>
          <a:lstStyle/>
          <a:p>
            <a:r>
              <a:rPr kumimoji="1" lang="en-US" altLang="zh-TW" dirty="0"/>
              <a:t>FLASH_CRASH &amp; </a:t>
            </a:r>
            <a:r>
              <a:rPr kumimoji="1" lang="zh-TW" altLang="en-US" dirty="0"/>
              <a:t>緊急保本退款</a:t>
            </a:r>
            <a:endParaRPr kumimoji="1" lang="en-US" altLang="zh-TW" dirty="0"/>
          </a:p>
          <a:p>
            <a:endParaRPr kumimoji="1" lang="zh-TW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4F6E55D7-B5F9-FC64-3053-7F1B078D24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990" y="1964973"/>
            <a:ext cx="8729331" cy="4786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88226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1ED216D-EF6C-21E6-E9DC-74591DC0EE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Snapshot of all step: Deposit 100$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0569C75-7122-E323-B817-76BB53EBC9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38544"/>
            <a:ext cx="10515600" cy="4351338"/>
          </a:xfrm>
        </p:spPr>
        <p:txBody>
          <a:bodyPr/>
          <a:lstStyle/>
          <a:p>
            <a:r>
              <a:rPr kumimoji="1" lang="en-US" altLang="zh-TW" dirty="0"/>
              <a:t>Market state: BULL, save 100% in account.</a:t>
            </a: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42CC5F8E-9734-A0BD-15CB-8E3F0B8B87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219" y="2059135"/>
            <a:ext cx="8273902" cy="45314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26551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530E7D-9995-FA05-4EA8-ECDF31E58A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79465D9-3E0A-FB09-1CC4-082CFAB864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Snapshot of all step: Deposit 100$ cont. 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7A98331-A469-2577-61C2-34CFDEE8D0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38544"/>
            <a:ext cx="10515600" cy="4351338"/>
          </a:xfrm>
        </p:spPr>
        <p:txBody>
          <a:bodyPr/>
          <a:lstStyle/>
          <a:p>
            <a:r>
              <a:rPr kumimoji="1" lang="en-US" altLang="zh-TW" dirty="0"/>
              <a:t>Market state: BEAR, save 80% in account.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14643EB8-C98B-5DD1-BE4C-D54DC7F09E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5785" y="2011918"/>
            <a:ext cx="8442252" cy="4620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82985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8424FF-9E82-FF1C-5769-1311DC94FD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E32CC80-3807-E25A-F1F7-7CDD996D5D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Snapshot of all step: Withdraw within 3 days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F4F0A88-B7F0-BBD1-CD5B-90C1B5809F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38544"/>
            <a:ext cx="10515600" cy="4351338"/>
          </a:xfrm>
        </p:spPr>
        <p:txBody>
          <a:bodyPr/>
          <a:lstStyle/>
          <a:p>
            <a:r>
              <a:rPr kumimoji="1" lang="en-US" altLang="zh-TW" dirty="0"/>
              <a:t>Withdraw within 3 days with penalty: before withdraw</a:t>
            </a: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CEF3D721-BEC8-2EC2-D5BF-E585C9F723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0611" y="2004266"/>
            <a:ext cx="8332998" cy="4722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00210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D1EDB4-48E6-2329-C687-C99DB3D357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9CA8E91-75CA-637C-204C-E13FCF11A8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TW" sz="4000" dirty="0"/>
              <a:t>Snapshot of all step: Withdraw within 3 days cont.</a:t>
            </a:r>
            <a:endParaRPr kumimoji="1" lang="zh-TW" altLang="en-US" sz="4000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C7849C3-15A6-B6C3-196F-CC3115CAF0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38544"/>
            <a:ext cx="10515600" cy="4351338"/>
          </a:xfrm>
        </p:spPr>
        <p:txBody>
          <a:bodyPr/>
          <a:lstStyle/>
          <a:p>
            <a:r>
              <a:rPr kumimoji="1" lang="en-US" altLang="zh-TW" dirty="0"/>
              <a:t>Withdraw within 3 days with penalty: after withdraw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E348444E-EADA-4534-F683-82323FD037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4646" y="2015215"/>
            <a:ext cx="8295167" cy="4573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23543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B4AF5F-3932-7DE5-A3C0-098D04B135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FA1D9D7-D3C7-0E49-9DE1-FBE13AC818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TW" sz="4000" dirty="0"/>
              <a:t>Snapshot of all step: Withdraw after 4 days cont.</a:t>
            </a:r>
            <a:endParaRPr kumimoji="1" lang="zh-TW" altLang="en-US" sz="4000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A56A1A8-E8C4-33AE-8A86-390F5A9B81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38544"/>
            <a:ext cx="10515600" cy="4351338"/>
          </a:xfrm>
        </p:spPr>
        <p:txBody>
          <a:bodyPr/>
          <a:lstStyle/>
          <a:p>
            <a:r>
              <a:rPr kumimoji="1" lang="en-US" altLang="zh-TW" dirty="0"/>
              <a:t>Withdraw after 4 days with </a:t>
            </a:r>
            <a:r>
              <a:rPr kumimoji="1" lang="en-US" altLang="zh-TW" dirty="0">
                <a:solidFill>
                  <a:srgbClr val="FF0000"/>
                </a:solidFill>
              </a:rPr>
              <a:t>no</a:t>
            </a:r>
            <a:r>
              <a:rPr kumimoji="1" lang="en-US" altLang="zh-TW" dirty="0"/>
              <a:t> penalty: before withdraw</a:t>
            </a: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A147EE03-DD88-FDB0-71DE-D1701CDB08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5156" y="2030050"/>
            <a:ext cx="8601738" cy="4719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48912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138100-99DF-7A80-2321-B5BCBFAED1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3AEC991-4B6A-8162-53EA-592BCC9C5B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TW" sz="4000" dirty="0"/>
              <a:t>Snapshot of all step: Withdraw after 4 days cont.</a:t>
            </a:r>
            <a:endParaRPr kumimoji="1" lang="zh-TW" altLang="en-US" sz="4000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69C7E18-0C12-2BDF-3BE4-00EB4395E2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38544"/>
            <a:ext cx="10515600" cy="4351338"/>
          </a:xfrm>
        </p:spPr>
        <p:txBody>
          <a:bodyPr/>
          <a:lstStyle/>
          <a:p>
            <a:r>
              <a:rPr kumimoji="1" lang="en-US" altLang="zh-TW" dirty="0"/>
              <a:t>Withdraw after 4 days with </a:t>
            </a:r>
            <a:r>
              <a:rPr kumimoji="1" lang="en-US" altLang="zh-TW" dirty="0">
                <a:solidFill>
                  <a:srgbClr val="FF0000"/>
                </a:solidFill>
              </a:rPr>
              <a:t>no</a:t>
            </a:r>
            <a:r>
              <a:rPr kumimoji="1" lang="en-US" altLang="zh-TW" dirty="0"/>
              <a:t> penalty: after withdraw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66E7C077-23A8-EFB5-57BF-83C653AA1D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0213" y="2054779"/>
            <a:ext cx="8314661" cy="4535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53396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27AC5D8-C167-71EE-A504-B67B8E5958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Contract problem: Liquid Trap</a:t>
            </a:r>
            <a:endParaRPr kumimoji="1" lang="zh-TW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CE61946C-D644-DD62-5783-7CBE6513418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kumimoji="1" lang="zh-TW" altLang="en-US" dirty="0"/>
                  <a:t>如果沒有人提早領錢出場，分紅池內的獎金將會</a:t>
                </a:r>
                <a:r>
                  <a:rPr kumimoji="1" lang="en-US" altLang="zh-TW" dirty="0"/>
                  <a:t>0</a:t>
                </a:r>
                <a:r>
                  <a:rPr kumimoji="1" lang="zh-TW" altLang="en-US" dirty="0"/>
                  <a:t>，也就是</a:t>
                </a:r>
                <a:r>
                  <a:rPr kumimoji="1" lang="en-US" altLang="zh-TW" dirty="0"/>
                  <a:t>20%</a:t>
                </a:r>
                <a:r>
                  <a:rPr kumimoji="1" lang="zh-TW" altLang="en-US" dirty="0"/>
                  <a:t>的錢將被鎖在合約裡，無人可領。</a:t>
                </a:r>
                <a:endParaRPr kumimoji="1" lang="en-US" altLang="zh-TW" dirty="0"/>
              </a:p>
              <a:p>
                <a:r>
                  <a:rPr kumimoji="1" lang="zh-TW" altLang="en-US" dirty="0"/>
                  <a:t>解決方法：</a:t>
                </a:r>
                <a:endParaRPr kumimoji="1" lang="en-US" altLang="zh-TW" dirty="0"/>
              </a:p>
              <a:p>
                <a:pPr lvl="1"/>
                <a:r>
                  <a:rPr lang="zh-TW" altLang="zh-TW" dirty="0"/>
                  <a:t>引入淨值動態結算機制</a:t>
                </a:r>
                <a:r>
                  <a:rPr lang="zh-TW" altLang="en-US" dirty="0"/>
                  <a:t>：（按比例退錢）</a:t>
                </a:r>
                <a:endParaRPr lang="en-US" altLang="zh-TW" dirty="0"/>
              </a:p>
              <a:p>
                <a:pPr lvl="2"/>
                <a14:m>
                  <m:oMath xmlns:m="http://schemas.openxmlformats.org/officeDocument/2006/math">
                    <m:r>
                      <a:rPr kumimoji="1" lang="zh-TW" altLang="en-US" i="1" dirty="0">
                        <a:latin typeface="Cambria Math" panose="02040503050406030204" pitchFamily="18" charset="0"/>
                      </a:rPr>
                      <m:t>你應得的</m:t>
                    </m:r>
                    <m:r>
                      <a:rPr kumimoji="1" lang="zh-TW" altLang="en-US" i="1" dirty="0" smtClean="0">
                        <a:latin typeface="Cambria Math" panose="02040503050406030204" pitchFamily="18" charset="0"/>
                      </a:rPr>
                      <m:t>錢</m:t>
                    </m:r>
                    <m:r>
                      <a:rPr kumimoji="1" lang="en-US" altLang="zh-TW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kumimoji="1" lang="zh-TW" altLang="en-US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kumimoji="1" lang="zh-TW" alt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你的份額</m:t>
                        </m:r>
                      </m:num>
                      <m:den>
                        <m:r>
                          <a:rPr kumimoji="1" lang="zh-TW" alt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總份額</m:t>
                        </m:r>
                      </m:den>
                    </m:f>
                    <m:r>
                      <a:rPr kumimoji="1" lang="zh-TW" alt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kumimoji="1" lang="en-US" altLang="zh-TW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kumimoji="1" lang="zh-TW" alt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kumimoji="1" lang="zh-TW" altLang="en-US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合約目前總資產</m:t>
                    </m:r>
                  </m:oMath>
                </a14:m>
                <a:endParaRPr kumimoji="1" lang="en-US" altLang="zh-TW" dirty="0"/>
              </a:p>
              <a:p>
                <a:pPr lvl="1"/>
                <a:r>
                  <a:rPr lang="zh-TW" altLang="zh-TW" dirty="0"/>
                  <a:t>合約終局清算</a:t>
                </a:r>
                <a:r>
                  <a:rPr lang="zh-TW" altLang="en-US" dirty="0"/>
                  <a:t>：</a:t>
                </a:r>
                <a:endParaRPr lang="en-US" altLang="zh-TW" dirty="0"/>
              </a:p>
              <a:p>
                <a:pPr lvl="2"/>
                <a:r>
                  <a:rPr kumimoji="1" lang="zh-TW" altLang="en-US" dirty="0"/>
                  <a:t>當基金要關閉時，由 </a:t>
                </a:r>
                <a:r>
                  <a:rPr kumimoji="1" lang="en" altLang="zh-TW" dirty="0"/>
                  <a:t>admin </a:t>
                </a:r>
                <a:r>
                  <a:rPr kumimoji="1" lang="zh-TW" altLang="en-US" dirty="0"/>
                  <a:t>呼叫，把合約裡殘留的、因為熊市少發份額而多出來的 </a:t>
                </a:r>
                <a:r>
                  <a:rPr kumimoji="1" lang="en" altLang="zh-TW" dirty="0"/>
                  <a:t>ETH</a:t>
                </a:r>
                <a:r>
                  <a:rPr kumimoji="1" lang="zh-TW" altLang="en" dirty="0"/>
                  <a:t>（</a:t>
                </a:r>
                <a:r>
                  <a:rPr kumimoji="1" lang="zh-TW" altLang="en-US" dirty="0"/>
                  <a:t>現金儲備），全額提領出來，再手動發還給用戶，或當作基金經理人的操盤手續費（</a:t>
                </a:r>
                <a:r>
                  <a:rPr kumimoji="1" lang="en" altLang="zh-TW" dirty="0"/>
                  <a:t>Performance Fee</a:t>
                </a:r>
                <a:r>
                  <a:rPr kumimoji="1" lang="zh-TW" altLang="en" dirty="0"/>
                  <a:t>）。</a:t>
                </a:r>
                <a:endParaRPr kumimoji="1" lang="zh-TW" altLang="en-US" dirty="0"/>
              </a:p>
            </p:txBody>
          </p:sp>
        </mc:Choice>
        <mc:Fallback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CE61946C-D644-DD62-5783-7CBE6513418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2616" r="-48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6346927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79EEBE5-49D8-C781-0727-C332F2113E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 err="1"/>
              <a:t>Github</a:t>
            </a:r>
            <a:r>
              <a:rPr kumimoji="1" lang="en-US" altLang="zh-TW" dirty="0"/>
              <a:t> Link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D728471-C561-0564-624F-E550882779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" altLang="zh-TW" dirty="0">
                <a:hlinkClick r:id="rId2"/>
              </a:rPr>
              <a:t>https://github.com/imlone1y/Automated-Dynamic-Momentum-Vault</a:t>
            </a:r>
            <a:r>
              <a:rPr kumimoji="1" lang="en" altLang="zh-TW" dirty="0"/>
              <a:t> </a:t>
            </a:r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9445493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627</TotalTime>
  <Words>1041</Words>
  <Application>Microsoft Macintosh PowerPoint</Application>
  <PresentationFormat>寬螢幕</PresentationFormat>
  <Paragraphs>59</Paragraphs>
  <Slides>17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17</vt:i4>
      </vt:variant>
    </vt:vector>
  </HeadingPairs>
  <TitlesOfParts>
    <vt:vector size="22" baseType="lpstr">
      <vt:lpstr>Aptos</vt:lpstr>
      <vt:lpstr>Aptos Display</vt:lpstr>
      <vt:lpstr>Arial</vt:lpstr>
      <vt:lpstr>Cambria Math</vt:lpstr>
      <vt:lpstr>Office 佈景主題</vt:lpstr>
      <vt:lpstr>基於時間與價格波動的自動動態動量保險庫 Automated Dynamic Momentum Vault</vt:lpstr>
      <vt:lpstr>Goal of smart contract</vt:lpstr>
      <vt:lpstr>Goal of smart contract cont.</vt:lpstr>
      <vt:lpstr>The function of smart contract</vt:lpstr>
      <vt:lpstr>The function of smart contract cont.</vt:lpstr>
      <vt:lpstr>The function of smart contract cont.</vt:lpstr>
      <vt:lpstr>Snapshot of all step: Set market state</vt:lpstr>
      <vt:lpstr>Snapshot of all step: Set market state cont.</vt:lpstr>
      <vt:lpstr>Snapshot of all step: Set market state cont.</vt:lpstr>
      <vt:lpstr>Snapshot of all step: Deposit 100$</vt:lpstr>
      <vt:lpstr>Snapshot of all step: Deposit 100$ cont. </vt:lpstr>
      <vt:lpstr>Snapshot of all step: Withdraw within 3 days</vt:lpstr>
      <vt:lpstr>Snapshot of all step: Withdraw within 3 days cont.</vt:lpstr>
      <vt:lpstr>Snapshot of all step: Withdraw after 4 days cont.</vt:lpstr>
      <vt:lpstr>Snapshot of all step: Withdraw after 4 days cont.</vt:lpstr>
      <vt:lpstr>Contract problem: Liquid Trap</vt:lpstr>
      <vt:lpstr>Github Link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宸君 葉</dc:creator>
  <cp:lastModifiedBy>宸君 葉</cp:lastModifiedBy>
  <cp:revision>17</cp:revision>
  <dcterms:created xsi:type="dcterms:W3CDTF">2026-06-16T07:54:10Z</dcterms:created>
  <dcterms:modified xsi:type="dcterms:W3CDTF">2026-06-17T02:33:34Z</dcterms:modified>
</cp:coreProperties>
</file>